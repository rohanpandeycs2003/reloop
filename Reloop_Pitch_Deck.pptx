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CC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9A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333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Total Responses</c:v>
                  </c:pt>
                  <c:pt idx="1">
                    <c:v>Willing to Use</c:v>
                  </c:pt>
                  <c:pt idx="2">
                    <c:v>Not Willing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1921</c:v>
                </c:pt>
                <c:pt idx="1">
                  <c:v>1889</c:v>
                </c:pt>
                <c:pt idx="2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Survey Respondents</c:v>
                </c:pt>
              </c:strCache>
            </c:strRef>
          </c:tx>
          <c:spPr>
            <a:solidFill>
              <a:srgbClr val="159A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Mumbai</c:v>
                  </c:pt>
                  <c:pt idx="1">
                    <c:v>Pune</c:v>
                  </c:pt>
                  <c:pt idx="2">
                    <c:v>Delhi</c:v>
                  </c:pt>
                  <c:pt idx="3">
                    <c:v>Hyderabad</c:v>
                  </c:pt>
                  <c:pt idx="4">
                    <c:v>Bangalore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</c:v>
                </c:pt>
                <c:pt idx="1">
                  <c:v>480</c:v>
                </c:pt>
                <c:pt idx="2">
                  <c:v>380</c:v>
                </c:pt>
                <c:pt idx="3">
                  <c:v>310</c:v>
                </c:pt>
                <c:pt idx="4">
                  <c:v>231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Waste Composition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9A5B"/>
              </a:solidFill>
              <a:effectLst/>
            </c:spPr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bubble3D val="0"/>
            <c:spPr>
              <a:solidFill>
                <a:srgbClr val="0D6B3F"/>
              </a:solidFill>
              <a:effectLst/>
            </c:spPr>
          </c:dPt>
          <c:dPt>
            <c:idx val="3"/>
            <c:bubble3D val="0"/>
            <c:spPr>
              <a:solidFill>
                <a:srgbClr val="87D9B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Aluminium Cans</c:v>
                </c:pt>
                <c:pt idx="1">
                  <c:v>Beer Bottles</c:v>
                </c:pt>
                <c:pt idx="2">
                  <c:v>Cardboard</c:v>
                </c:pt>
                <c:pt idx="3">
                  <c:v>Books/Paper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25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E8F5E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59A5B"/>
            </a:solidFill>
            <a:ln w="31750" cap="flat">
              <a:solidFill>
                <a:srgbClr val="159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9A5B"/>
              </a:solidFill>
              <a:ln w="9525" cap="flat">
                <a:solidFill>
                  <a:srgbClr val="159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50000</c:v>
                </c:pt>
                <c:pt idx="1">
                  <c:v>120000</c:v>
                </c:pt>
                <c:pt idx="2">
                  <c:v>200000</c:v>
                </c:pt>
                <c:pt idx="3">
                  <c:v>350000</c:v>
                </c:pt>
                <c:pt idx="4">
                  <c:v>600000</c:v>
                </c:pt>
                <c:pt idx="5">
                  <c:v>1000000</c:v>
                </c:pt>
                <c:pt idx="6">
                  <c:v>1300000</c:v>
                </c:pt>
                <c:pt idx="7">
                  <c:v>1600000</c:v>
                </c:pt>
                <c:pt idx="8">
                  <c:v>1800000</c:v>
                </c:pt>
                <c:pt idx="9">
                  <c:v>1900000</c:v>
                </c:pt>
                <c:pt idx="10">
                  <c:v>1950000</c:v>
                </c:pt>
                <c:pt idx="11">
                  <c:v>1800000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 (₹)</c:v>
                </c:pt>
              </c:strCache>
            </c:strRef>
          </c:tx>
          <c:spPr>
            <a:solidFill>
              <a:srgbClr val="CC3333"/>
            </a:solidFill>
            <a:ln w="31750" cap="flat">
              <a:solidFill>
                <a:srgbClr val="CC3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3333"/>
              </a:solidFill>
              <a:ln w="9525" cap="flat">
                <a:solidFill>
                  <a:srgbClr val="CC3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200000</c:v>
                </c:pt>
                <c:pt idx="1">
                  <c:v>190000</c:v>
                </c:pt>
                <c:pt idx="2">
                  <c:v>180000</c:v>
                </c:pt>
                <c:pt idx="3">
                  <c:v>170000</c:v>
                </c:pt>
                <c:pt idx="4">
                  <c:v>165000</c:v>
                </c:pt>
                <c:pt idx="5">
                  <c:v>160000</c:v>
                </c:pt>
                <c:pt idx="6">
                  <c:v>155000</c:v>
                </c:pt>
                <c:pt idx="7">
                  <c:v>160000</c:v>
                </c:pt>
                <c:pt idx="8">
                  <c:v>150000</c:v>
                </c:pt>
                <c:pt idx="9">
                  <c:v>145000</c:v>
                </c:pt>
                <c:pt idx="10">
                  <c:v>140000</c:v>
                </c:pt>
                <c:pt idx="11">
                  <c:v>140000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6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ReLoop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347472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Waste. Rewarded.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Investor Pitch ·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♻  Gamified Recycling Rewards  ·  India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Recycling Ecosystem Is Broken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Three broken stakeholders. One systemic failure.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03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" cy="18288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A5B"/>
                </a:solidFill>
              </a:rPr>
              <a:t>👤 Consumer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No reward for recycling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Ugly, inconvenient collection points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Poor scrap shop experience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03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280160"/>
            <a:ext cx="82296" cy="18288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A5B"/>
                </a:solidFill>
              </a:rPr>
              <a:t>♻ Recyclers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Fragmented, unreliable supply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No digital aggregation layer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Manual, error-prone operations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5303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91840"/>
            <a:ext cx="82296" cy="18288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A5B"/>
                </a:solidFill>
              </a:rPr>
              <a:t>🏪 Brands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No engaging sustainability channel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No measurable recycling impact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Missing Gen Z consumer connect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5303520" cy="1828800"/>
          </a:xfrm>
          <a:prstGeom prst="rect">
            <a:avLst/>
          </a:prstGeom>
          <a:solidFill>
            <a:srgbClr val="FF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291840"/>
            <a:ext cx="82296" cy="18288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3333"/>
                </a:solidFill>
              </a:rPr>
              <a:t>⚠ Result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8404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</a:rPr>
              <a:t>Valuable recyclable material is simply wasted every single day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ReLoop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A gamified digital recycling ecosystem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2468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9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54480"/>
            <a:ext cx="320040" cy="32004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544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1. Upload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Recyclable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783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A5B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108960" y="1463040"/>
            <a:ext cx="2468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9A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554480"/>
            <a:ext cx="320040" cy="32004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5544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2. Select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Category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783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A5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468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9A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554480"/>
            <a:ext cx="320040" cy="32004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5544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3. 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Quantity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1783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A5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778240" y="1463040"/>
            <a:ext cx="2468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9A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0" y="1554480"/>
            <a:ext cx="320040" cy="32004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15544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4. Estimate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GreenCoins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29800" y="2697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A5B"/>
                </a:solidFill>
              </a:rPr>
              <a:t>↓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778240" y="3200400"/>
            <a:ext cx="2468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9A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3291840"/>
            <a:ext cx="320040" cy="32004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3291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5. Drop 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Collect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38160" y="3520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A5B"/>
                </a:solidFill>
              </a:rPr>
              <a:t>←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0" y="3200400"/>
            <a:ext cx="2468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9A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291840"/>
            <a:ext cx="320040" cy="32004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291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6. Verify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Quantity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520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A5B"/>
                </a:solidFill>
              </a:rPr>
              <a:t>←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108960" y="3200400"/>
            <a:ext cx="2468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9A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3291840"/>
            <a:ext cx="320040" cy="32004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3291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7. GreenCoins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Credited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68880" y="3520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A5B"/>
                </a:solidFill>
              </a:rPr>
              <a:t>←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74320" y="3200400"/>
            <a:ext cx="2468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9A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291840"/>
            <a:ext cx="320040" cy="32004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291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8. Redeem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6B3F"/>
                </a:solidFill>
              </a:rPr>
              <a:t>Rewards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0" y="5852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59A5B"/>
                </a:solidFill>
              </a:rPr>
              <a:t>Recycling becomes a Digital Reward Economy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Recycle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6517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82296" cy="475488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🥤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6B3F"/>
                </a:solidFill>
              </a:rPr>
              <a:t>Aluminium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6B3F"/>
                </a:solidFill>
              </a:rPr>
              <a:t>Cans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9A5B"/>
                </a:solidFill>
              </a:rPr>
              <a:t>15 GC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per can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₹2/can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Resale Value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517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188720"/>
            <a:ext cx="82296" cy="475488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371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🍺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6B3F"/>
                </a:solidFill>
              </a:rPr>
              <a:t>Beer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6B3F"/>
                </a:solidFill>
              </a:rPr>
              <a:t>Bottles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9A5B"/>
                </a:solidFill>
              </a:rPr>
              <a:t>20 GC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2900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per bottle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₹4/bottle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Resale Value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6517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188720"/>
            <a:ext cx="82296" cy="475488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371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📦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355080" y="2286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6B3F"/>
                </a:solidFill>
              </a:rPr>
              <a:t>Cardboard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5508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9A5B"/>
                </a:solidFill>
              </a:rPr>
              <a:t>35 GC/kg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5508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per kilogram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₹12/kg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Resale Value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0" y="1188720"/>
            <a:ext cx="26517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0" y="1188720"/>
            <a:ext cx="82296" cy="475488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1371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📚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9281160" y="2286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6B3F"/>
                </a:solidFill>
              </a:rPr>
              <a:t>Books /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6B3F"/>
                </a:solidFill>
              </a:rPr>
              <a:t>Paper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28116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9A5B"/>
                </a:solidFill>
              </a:rPr>
              <a:t>40 GC/kg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28116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per kilogram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8116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₹15/kg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8116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Resale Value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6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GreenCoin Economy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0" y="1097280"/>
            <a:ext cx="5788152" cy="1371600"/>
          </a:xfrm>
          <a:prstGeom prst="roundRect">
            <a:avLst>
              <a:gd name="adj" fmla="val 10000"/>
            </a:avLst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097280"/>
            <a:ext cx="5788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GreenCoins = ₹10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2560320" cy="1463040"/>
          </a:xfrm>
          <a:prstGeom prst="rect">
            <a:avLst/>
          </a:prstGeom>
          <a:solidFill>
            <a:srgbClr val="159A5B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Aluminium Can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15 GC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2834640"/>
            <a:ext cx="2560320" cy="1463040"/>
          </a:xfrm>
          <a:prstGeom prst="rect">
            <a:avLst/>
          </a:prstGeom>
          <a:solidFill>
            <a:srgbClr val="159A5B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Beer Bottle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 GC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35040" y="2834640"/>
            <a:ext cx="2560320" cy="1463040"/>
          </a:xfrm>
          <a:prstGeom prst="rect">
            <a:avLst/>
          </a:prstGeom>
          <a:solidFill>
            <a:srgbClr val="159A5B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Cardboard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35 GC/kg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69680" y="2834640"/>
            <a:ext cx="2560320" cy="1463040"/>
          </a:xfrm>
          <a:prstGeom prst="rect">
            <a:avLst/>
          </a:prstGeom>
          <a:solidFill>
            <a:srgbClr val="159A5B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Books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40 GC/kg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5BC"/>
                </a:solidFill>
              </a:rPr>
              <a:t>Redeem at: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77440" y="475488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4754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Cafes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475488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4754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Discount Offers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475488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4754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Partner Rewards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475488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4754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Market Validation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Survey conducted across target cities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59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1,921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Survey Responses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Collected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3716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59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1,889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11480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Users Willing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to Use ReLoop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13716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59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98.3%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86384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Positive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Validation Rate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1828800" y="338328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Demand Cities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Phase 1 launch targets — mapped from survey location data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1371600"/>
          <a:ext cx="91440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Our Users Throw Away Every Month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566160" cy="1737360"/>
          </a:xfrm>
          <a:prstGeom prst="rect">
            <a:avLst/>
          </a:prstGeom>
          <a:solidFill>
            <a:srgbClr val="E8F5EE"/>
          </a:solidFill>
          <a:ln w="6350">
            <a:solidFill>
              <a:srgbClr val="159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82296" cy="17373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B3F"/>
                </a:solidFill>
              </a:rPr>
              <a:t>📊 Avg Monthly Can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6B3F"/>
                </a:solidFill>
              </a:rPr>
              <a:t>Consumption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9A5B"/>
                </a:solidFill>
              </a:rPr>
              <a:t>10–20+ cans/user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0" y="1097280"/>
            <a:ext cx="3566160" cy="1737360"/>
          </a:xfrm>
          <a:prstGeom prst="rect">
            <a:avLst/>
          </a:prstGeom>
          <a:solidFill>
            <a:srgbClr val="E8F5EE"/>
          </a:solidFill>
          <a:ln w="6350">
            <a:solidFill>
              <a:srgbClr val="159A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1097280"/>
            <a:ext cx="82296" cy="17373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188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B3F"/>
                </a:solidFill>
              </a:rPr>
              <a:t>⚖ Projected Monthly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6B3F"/>
                </a:solidFill>
              </a:rPr>
              <a:t>Waste/User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51960" y="1828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9A5B"/>
                </a:solidFill>
              </a:rPr>
              <a:t>~2–3 kg recyclables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863840" y="1097280"/>
            <a:ext cx="3566160" cy="1737360"/>
          </a:xfrm>
          <a:prstGeom prst="rect">
            <a:avLst/>
          </a:prstGeom>
          <a:solidFill>
            <a:srgbClr val="E8F5EE"/>
          </a:solidFill>
          <a:ln w="6350">
            <a:solidFill>
              <a:srgbClr val="159A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097280"/>
            <a:ext cx="82296" cy="17373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188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B3F"/>
                </a:solidFill>
              </a:rPr>
              <a:t>🏭 Total Volume at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6B3F"/>
                </a:solidFill>
              </a:rPr>
              <a:t>50K Users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1828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9A5B"/>
                </a:solidFill>
              </a:rPr>
              <a:t>~1,25,000 kg/month</a:t>
            </a:r>
            <a:endParaRPr lang="en-US" sz="2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200400" y="292608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Massive Untapped Market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6858000" cy="502920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B3F"/>
                </a:solidFill>
              </a:rPr>
              <a:t>TAM  ₹35,000 Cr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1645920"/>
            <a:ext cx="5029200" cy="3566160"/>
          </a:xfrm>
          <a:prstGeom prst="ellipse">
            <a:avLst/>
          </a:prstGeom>
          <a:solidFill>
            <a:srgbClr val="A8D5BC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6B3F"/>
                </a:solidFill>
              </a:rPr>
              <a:t>SAM  ₹8,000 Cr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560320"/>
            <a:ext cx="2834640" cy="192024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6517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₹500 Cr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1280160"/>
            <a:ext cx="4114800" cy="1371600"/>
          </a:xfrm>
          <a:prstGeom prst="rect">
            <a:avLst/>
          </a:prstGeom>
          <a:solidFill>
            <a:srgbClr val="E8F5EE"/>
          </a:solidFill>
          <a:ln w="6350">
            <a:solidFill>
              <a:srgbClr val="159A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1280160"/>
            <a:ext cx="82296" cy="13716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9A5B"/>
                </a:solidFill>
              </a:rPr>
              <a:t>62 MT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77240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Waste generated in India yearly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0" y="2926080"/>
            <a:ext cx="4114800" cy="1371600"/>
          </a:xfrm>
          <a:prstGeom prst="rect">
            <a:avLst/>
          </a:prstGeom>
          <a:solidFill>
            <a:srgbClr val="E8F5EE"/>
          </a:solidFill>
          <a:ln w="6350">
            <a:solidFill>
              <a:srgbClr val="159A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2926080"/>
            <a:ext cx="82296" cy="13716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0175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9A5B"/>
                </a:solidFill>
              </a:rPr>
              <a:t>5% YoY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772400" y="3703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Urban waste growth 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0" y="4572000"/>
            <a:ext cx="4114800" cy="1371600"/>
          </a:xfrm>
          <a:prstGeom prst="rect">
            <a:avLst/>
          </a:prstGeom>
          <a:solidFill>
            <a:srgbClr val="E8F5EE"/>
          </a:solidFill>
          <a:ln w="6350">
            <a:solidFill>
              <a:srgbClr val="159A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4572000"/>
            <a:ext cx="82296" cy="13716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46634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9A5B"/>
                </a:solidFill>
              </a:rPr>
              <a:t>₹35,000 Cr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772400" y="5349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Total recycling market by 2030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ReLoop Makes Money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148840" cy="5029200"/>
          </a:xfrm>
          <a:prstGeom prst="rect">
            <a:avLst/>
          </a:prstGeom>
          <a:solidFill>
            <a:srgbClr val="F7FB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82296" cy="50292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148840" cy="8229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Scrap Resale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1920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Sell verified recyclables to certified processors at market rates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97480" y="1097280"/>
            <a:ext cx="2148840" cy="5029200"/>
          </a:xfrm>
          <a:prstGeom prst="rect">
            <a:avLst/>
          </a:prstGeom>
          <a:solidFill>
            <a:srgbClr val="F7FB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1097280"/>
            <a:ext cx="82296" cy="50292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097280"/>
            <a:ext cx="2148840" cy="8229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1430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Reward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Partnersh.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011680"/>
            <a:ext cx="1920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Cafes &amp; brands pay per GreenCoin redemption event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1097280"/>
            <a:ext cx="2148840" cy="5029200"/>
          </a:xfrm>
          <a:prstGeom prst="rect">
            <a:avLst/>
          </a:prstGeom>
          <a:solidFill>
            <a:srgbClr val="F7FB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097280"/>
            <a:ext cx="82296" cy="50292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097280"/>
            <a:ext cx="2148840" cy="8229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1430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Sponsored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Campaigns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2011680"/>
            <a:ext cx="1920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Corporate sustainability campaign fees and analytics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60920" y="1097280"/>
            <a:ext cx="2148840" cy="5029200"/>
          </a:xfrm>
          <a:prstGeom prst="rect">
            <a:avLst/>
          </a:prstGeom>
          <a:solidFill>
            <a:srgbClr val="F7FB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0920" y="1097280"/>
            <a:ext cx="82296" cy="50292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1097280"/>
            <a:ext cx="2148840" cy="8229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1430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Quick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Commerce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2011680"/>
            <a:ext cx="1920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Future Blinkit/Swiggy integration revenue share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92640" y="1097280"/>
            <a:ext cx="2148840" cy="5029200"/>
          </a:xfrm>
          <a:prstGeom prst="rect">
            <a:avLst/>
          </a:prstGeom>
          <a:solidFill>
            <a:srgbClr val="F7FB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1097280"/>
            <a:ext cx="82296" cy="50292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1097280"/>
            <a:ext cx="2148840" cy="8229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38360" y="11430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B2B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Recycling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29800" y="2011680"/>
            <a:ext cx="1920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Enterprise waste management contracts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Unit Economics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Built for profitability from day one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2743200"/>
                <a:gridCol w="25603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9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Resale Price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9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Reward Cost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9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Gross Margin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9A5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Aluminium Can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₹2/can (₹140/kg)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₹0.75/can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9A5B"/>
                          </a:solidFill>
                        </a:rPr>
                        <a:t>₹1.25 (62.5%)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Beer Bottle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₹4/bottle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₹1.50/bottle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9A5B"/>
                          </a:solidFill>
                        </a:rPr>
                        <a:t>₹2.50 (62.5%)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Cardboard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₹12/kg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₹3.50/kg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9A5B"/>
                          </a:solidFill>
                        </a:rPr>
                        <a:t>₹8.50/kg (70.8%)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Books / Paper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₹15/kg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₹4.00/kg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9A5B"/>
                          </a:solidFill>
                        </a:rPr>
                        <a:t>₹11.00/kg (73.3%)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7784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577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Blended Margin: ~65%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06240" y="557784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06240" y="5577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Ops Cost: ~15%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98080" y="557784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5577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Net Margin: ~50%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12-Month Financial Projections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9A5B"/>
                </a:solidFill>
              </a:rPr>
              <a:t>₹18L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Monthly Revenue at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0" y="868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9A5B"/>
                </a:solidFill>
              </a:rPr>
              <a:t>Month 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389120" y="1353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Break-even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0" y="868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9A5B"/>
                </a:solidFill>
              </a:rPr>
              <a:t>50,000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321040" y="1353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Target Users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828800"/>
          <a:ext cx="71323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955280" y="2103120"/>
            <a:ext cx="3931920" cy="3200400"/>
          </a:xfrm>
          <a:prstGeom prst="rect">
            <a:avLst/>
          </a:prstGeom>
          <a:solidFill>
            <a:srgbClr val="E8F5EE"/>
          </a:solidFill>
          <a:ln w="6350">
            <a:solidFill>
              <a:srgbClr val="159A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0" y="2103120"/>
            <a:ext cx="82296" cy="32004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2860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B3F"/>
                </a:solidFill>
              </a:rPr>
              <a:t>Break-even: Month 8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6B3F"/>
                </a:solidFill>
              </a:rPr>
              <a:t>Target: 50,000 users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6B3F"/>
                </a:solidFill>
              </a:rPr>
              <a:t>Peak Revenue: ₹18L/month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6B3F"/>
                </a:solidFill>
              </a:rPr>
              <a:t>Gross Margin: 65%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 — Month by Month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011680"/>
                <a:gridCol w="1828800"/>
                <a:gridCol w="1737360"/>
                <a:gridCol w="1645920"/>
                <a:gridCol w="1645920"/>
              </a:tblGrid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Active Users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Collections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Gross Revenue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Reward Payout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Ops Cost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3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7,500 items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₹50K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₹15K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₹20K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9A5B"/>
                          </a:solidFill>
                        </a:rPr>
                        <a:t>+₹15K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2,000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30,000 items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₹2L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₹60K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₹60K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9A5B"/>
                          </a:solidFill>
                        </a:rPr>
                        <a:t>+₹80K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10,000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1,50,000 items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₹3L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₹2.5L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9A5B"/>
                          </a:solidFill>
                        </a:rPr>
                        <a:t>+₹4.5L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M12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50,000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7,50,000 items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₹18L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₹5.5L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₹4L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9A5B"/>
                          </a:solidFill>
                        </a:rPr>
                        <a:t>+₹8.5L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Roadmap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3200400"/>
            <a:ext cx="10698480" cy="0"/>
          </a:xfrm>
          <a:prstGeom prst="line">
            <a:avLst/>
          </a:prstGeom>
          <a:noFill/>
          <a:ln w="38100">
            <a:solidFill>
              <a:srgbClr val="159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6B3F"/>
                </a:solidFill>
              </a:rPr>
              <a:t>Instagram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6B3F"/>
                </a:solidFill>
              </a:rPr>
              <a:t>College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9A5B"/>
                </a:solidFill>
              </a:rPr>
              <a:t>→ 5,000 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365760" cy="36576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Phase 1 · M1-2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0972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6B3F"/>
                </a:solidFill>
              </a:rPr>
              <a:t>Cafe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6B3F"/>
                </a:solidFill>
              </a:rPr>
              <a:t>Partnerships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9A5B"/>
                </a:solidFill>
              </a:rPr>
              <a:t>→ 15,000 users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3017520"/>
            <a:ext cx="365760" cy="36576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Phase 2 · M3-4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10972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6B3F"/>
                </a:solidFill>
              </a:rPr>
              <a:t>City Recycler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6B3F"/>
                </a:solidFill>
              </a:rPr>
              <a:t>Network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5216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9A5B"/>
                </a:solidFill>
              </a:rPr>
              <a:t>→ 30,000 users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3017520"/>
            <a:ext cx="365760" cy="36576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Phase 3 · M5-8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10972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6B3F"/>
                </a:solidFill>
              </a:rPr>
              <a:t>Dark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6B3F"/>
                </a:solidFill>
              </a:rPr>
              <a:t>Drop-Points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9536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9A5B"/>
                </a:solidFill>
              </a:rPr>
              <a:t>→ 50,000 users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0" y="3017520"/>
            <a:ext cx="365760" cy="365760"/>
          </a:xfrm>
          <a:prstGeom prst="ellipse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Phase 4 · M9-12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6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Physical Footprint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ReLoop Micro Recycling Hubs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 Clean branded walk-in drop points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 Instant digital weight verification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 Automatic GreenCoin credit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 Near cafes, colleges, residential zones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4114800" cy="548640"/>
          </a:xfrm>
          <a:prstGeom prst="roundRect">
            <a:avLst>
              <a:gd name="adj" fmla="val 25000"/>
            </a:avLst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029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"The Apple Store of Recycling"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0" y="1005840"/>
            <a:ext cx="502920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A8D5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005840"/>
            <a:ext cx="5029200" cy="73152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005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ReLoop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040880" y="1920240"/>
            <a:ext cx="1645920" cy="1097280"/>
          </a:xfrm>
          <a:prstGeom prst="rect">
            <a:avLst/>
          </a:prstGeom>
          <a:solidFill>
            <a:srgbClr val="E8F5EE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0" y="1920240"/>
            <a:ext cx="1645920" cy="1097280"/>
          </a:xfrm>
          <a:prstGeom prst="rect">
            <a:avLst/>
          </a:prstGeom>
          <a:solidFill>
            <a:srgbClr val="E8F5EE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3383280"/>
            <a:ext cx="1280160" cy="2560320"/>
          </a:xfrm>
          <a:prstGeom prst="rect">
            <a:avLst/>
          </a:prstGeom>
          <a:solidFill>
            <a:srgbClr val="E8F5EE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2004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9A5B"/>
                </a:solidFill>
              </a:rPr>
              <a:t>♻ Drop.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59A5B"/>
                </a:solidFill>
              </a:rPr>
              <a:t>Verify.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59A5B"/>
                </a:solidFill>
              </a:rPr>
              <a:t>Earn.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ReLoop Wins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1920240"/>
                <a:gridCol w="2194560"/>
                <a:gridCol w="2743200"/>
              </a:tblGrid>
              <a:tr h="7576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Traditional Scrap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Kabadi Apps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Generic Recycling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✅ ReLoop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9A5B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Rewards / Gamification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9A5B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Premium UX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6600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9A5B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Brand Partnerships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6600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9A5B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Digital Verification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6600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6600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9A5B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Gen Z Appeal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9A5B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Physical Drop Hubs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9A5B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Timing Has Never Been Better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" cy="210312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6B3F"/>
                </a:solidFill>
              </a:rPr>
              <a:t>🌱 Rising Sustainability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Gen Z actively seeks eco-conscious brands and products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188720"/>
            <a:ext cx="82296" cy="210312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3258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6B3F"/>
                </a:solidFill>
              </a:rPr>
              <a:t>📱 Digital-First Generation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55080" y="187452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500M+ smartphone users expect app-first experiences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566160"/>
            <a:ext cx="82296" cy="210312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6B3F"/>
                </a:solidFill>
              </a:rPr>
              <a:t>🗑 Urban Waste Crisis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42519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City waste growing 5% YoY with zero citizen incentive to recycle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56616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566160"/>
            <a:ext cx="82296" cy="210312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6B3F"/>
                </a:solidFill>
              </a:rPr>
              <a:t>🎮 Reward Economy Boom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55080" y="42519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Loyalty &amp; reward programs now table-stakes for consumer apps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6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474720" y="914400"/>
            <a:ext cx="5212080" cy="1280160"/>
          </a:xfrm>
          <a:prstGeom prst="roundRect">
            <a:avLst>
              <a:gd name="adj" fmla="val 10714"/>
            </a:avLst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9144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₹2–4 Lakhs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47472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Seed / Grant Funding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9A5B"/>
                </a:solidFill>
              </a:rPr>
              <a:t>Use of Funds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40% — MVP Development (React Native + Backend)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4389120" cy="1371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25% — First Dark Drop-Point Setup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2743200" cy="1371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389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20% — Logistics &amp; Operations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2194560" cy="1371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029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15% — Launch Marketing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394960"/>
            <a:ext cx="1645920" cy="13716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560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9A5B"/>
                </a:solidFill>
              </a:rPr>
              <a:t>From the Incubator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 Mentorship &amp; Investor Network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703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 Lab / Office Space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4297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 Go-to-market Guidance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5943600"/>
            <a:ext cx="12188952" cy="54864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59436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Goal: 10,000 users · 3 cities · Month 6 milestone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10332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88720"/>
            <a:ext cx="137160" cy="22860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80160"/>
            <a:ext cx="9966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"ReLoop becomes India's universal recycling rewards network — where every citizen can turn waste into digital spending power."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3474720" cy="1828800"/>
          </a:xfrm>
          <a:prstGeom prst="rect">
            <a:avLst/>
          </a:prstGeom>
          <a:solidFill>
            <a:srgbClr val="E8F5EE"/>
          </a:solidFill>
          <a:ln w="6350">
            <a:solidFill>
              <a:srgbClr val="159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840480"/>
            <a:ext cx="82296" cy="18288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77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9A5B"/>
                </a:solidFill>
              </a:rPr>
              <a:t>2026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4663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50,000 users · 5 cities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3474720" cy="1828800"/>
          </a:xfrm>
          <a:prstGeom prst="rect">
            <a:avLst/>
          </a:prstGeom>
          <a:solidFill>
            <a:srgbClr val="E8F5EE"/>
          </a:solidFill>
          <a:ln w="6350">
            <a:solidFill>
              <a:srgbClr val="159A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3840480"/>
            <a:ext cx="82296" cy="18288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3977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9A5B"/>
                </a:solidFill>
              </a:rPr>
              <a:t>2027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51960" y="4663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UPI redemption · Blinkit/Swiggy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3840480"/>
            <a:ext cx="3474720" cy="1828800"/>
          </a:xfrm>
          <a:prstGeom prst="rect">
            <a:avLst/>
          </a:prstGeom>
          <a:solidFill>
            <a:srgbClr val="E8F5EE"/>
          </a:solidFill>
          <a:ln w="6350">
            <a:solidFill>
              <a:srgbClr val="159A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3840480"/>
            <a:ext cx="82296" cy="182880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3977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9A5B"/>
                </a:solidFill>
              </a:rPr>
              <a:t>2028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909560" y="4663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Pan-India dark stores · 1M users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6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889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ReLoop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35661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Waste. Rewarded.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389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BC"/>
                </a:solidFill>
              </a:rPr>
              <a:t>Let's Build India's Recycling Reward Economy Together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59A5B"/>
          </a:solidFill>
          <a:ln w="12700">
            <a:solidFill>
              <a:srgbClr val="159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rohanpandeyte@gmail.com  ·  +91-XXXXXXXXXX  ·  reloop.in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2026-05-14T07:48:30Z</dcterms:created>
  <dcterms:modified xsi:type="dcterms:W3CDTF">2026-05-14T07:48:30Z</dcterms:modified>
</cp:coreProperties>
</file>